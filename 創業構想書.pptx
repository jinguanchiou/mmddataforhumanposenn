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0943B3-9A8F-48BD-8C39-311E3E5F330A}" v="3" dt="2026-08-06T16:53:53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uan chiou" userId="af6838b10049d8b4" providerId="LiveId" clId="{BDE80A10-783F-4778-879C-8992CD1E1974}"/>
    <pc:docChg chg="undo custSel modSld">
      <pc:chgData name="jinguan chiou" userId="af6838b10049d8b4" providerId="LiveId" clId="{BDE80A10-783F-4778-879C-8992CD1E1974}" dt="2026-08-06T17:20:17.087" v="1156" actId="113"/>
      <pc:docMkLst>
        <pc:docMk/>
      </pc:docMkLst>
      <pc:sldChg chg="modSp mod">
        <pc:chgData name="jinguan chiou" userId="af6838b10049d8b4" providerId="LiveId" clId="{BDE80A10-783F-4778-879C-8992CD1E1974}" dt="2026-08-06T16:53:55.434" v="777" actId="27636"/>
        <pc:sldMkLst>
          <pc:docMk/>
          <pc:sldMk cId="0" sldId="256"/>
        </pc:sldMkLst>
        <pc:spChg chg="mod">
          <ac:chgData name="jinguan chiou" userId="af6838b10049d8b4" providerId="LiveId" clId="{BDE80A10-783F-4778-879C-8992CD1E1974}" dt="2026-08-06T16:44:40.092" v="14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35:52.069" v="3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34" v="777" actId="27636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6:53:55.438" v="778" actId="27636"/>
        <pc:sldMkLst>
          <pc:docMk/>
          <pc:sldMk cId="0" sldId="258"/>
        </pc:sldMkLst>
        <pc:spChg chg="mod">
          <ac:chgData name="jinguan chiou" userId="af6838b10049d8b4" providerId="LiveId" clId="{BDE80A10-783F-4778-879C-8992CD1E1974}" dt="2026-08-06T16:38:46.066" v="9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0:33.293" v="289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38" v="778" actId="2763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6:57:24.433" v="812" actId="1076"/>
        <pc:sldMkLst>
          <pc:docMk/>
          <pc:sldMk cId="0" sldId="259"/>
        </pc:sldMkLst>
        <pc:spChg chg="mod">
          <ac:chgData name="jinguan chiou" userId="af6838b10049d8b4" providerId="LiveId" clId="{BDE80A10-783F-4778-879C-8992CD1E1974}" dt="2026-08-06T16:51:29.554" v="293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6:38.007" v="805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6:43.010" v="806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4:29.204" v="786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6:55.152" v="807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1:41.373" v="295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6:16.603" v="801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6:19.294" v="802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4:24.420" v="785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6:21.762" v="803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1:46.083" v="296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6:05.802" v="799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5:46.427" v="796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4:21.465" v="78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6:09.664" v="800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4:58.504" v="791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7:06.262" v="808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7:08.159" v="809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4:18.621" v="783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7:12.561" v="810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2:13.413" v="303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2:05.315" v="301" actId="107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7:16.109" v="811" actId="107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7:24.433" v="812" actId="107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4:16.282" v="782" actId="1076"/>
          <ac:spMkLst>
            <pc:docMk/>
            <pc:sldMk cId="0" sldId="259"/>
            <ac:spMk id="34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4:13.935" v="781" actId="1076"/>
          <ac:spMkLst>
            <pc:docMk/>
            <pc:sldMk cId="0" sldId="259"/>
            <ac:spMk id="35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6:58:16.441" v="830" actId="20577"/>
        <pc:sldMkLst>
          <pc:docMk/>
          <pc:sldMk cId="0" sldId="260"/>
        </pc:sldMkLst>
        <pc:spChg chg="mod">
          <ac:chgData name="jinguan chiou" userId="af6838b10049d8b4" providerId="LiveId" clId="{BDE80A10-783F-4778-879C-8992CD1E1974}" dt="2026-08-06T16:57:46.839" v="813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8:16.441" v="830" actId="20577"/>
          <ac:spMkLst>
            <pc:docMk/>
            <pc:sldMk cId="0" sldId="260"/>
            <ac:spMk id="15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6:59:39.202" v="837" actId="113"/>
        <pc:sldMkLst>
          <pc:docMk/>
          <pc:sldMk cId="0" sldId="261"/>
        </pc:sldMkLst>
        <pc:spChg chg="mod">
          <ac:chgData name="jinguan chiou" userId="af6838b10049d8b4" providerId="LiveId" clId="{BDE80A10-783F-4778-879C-8992CD1E1974}" dt="2026-08-06T16:53:55.372" v="741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373" v="742" actId="276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9:39.202" v="837" actId="113"/>
          <ac:spMkLst>
            <pc:docMk/>
            <pc:sldMk cId="0" sldId="261"/>
            <ac:spMk id="16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9:09.566" v="831" actId="271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9:19.135" v="834" actId="2711"/>
          <ac:spMkLst>
            <pc:docMk/>
            <pc:sldMk cId="0" sldId="261"/>
            <ac:spMk id="18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9:25.526" v="835" actId="2711"/>
          <ac:spMkLst>
            <pc:docMk/>
            <pc:sldMk cId="0" sldId="261"/>
            <ac:spMk id="19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9:30.615" v="836" actId="2711"/>
          <ac:spMkLst>
            <pc:docMk/>
            <pc:sldMk cId="0" sldId="261"/>
            <ac:spMk id="20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6:53:55.379" v="747" actId="27636"/>
        <pc:sldMkLst>
          <pc:docMk/>
          <pc:sldMk cId="0" sldId="262"/>
        </pc:sldMkLst>
        <pc:spChg chg="mod">
          <ac:chgData name="jinguan chiou" userId="af6838b10049d8b4" providerId="LiveId" clId="{BDE80A10-783F-4778-879C-8992CD1E1974}" dt="2026-08-06T16:53:55.378" v="745" actId="276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378" v="746" actId="276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379" v="747" actId="27636"/>
          <ac:spMkLst>
            <pc:docMk/>
            <pc:sldMk cId="0" sldId="262"/>
            <ac:spMk id="9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377" v="744" actId="2763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376" v="743" actId="27636"/>
          <ac:spMkLst>
            <pc:docMk/>
            <pc:sldMk cId="0" sldId="262"/>
            <ac:spMk id="15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6:53:55.384" v="749" actId="27636"/>
        <pc:sldMkLst>
          <pc:docMk/>
          <pc:sldMk cId="0" sldId="263"/>
        </pc:sldMkLst>
        <pc:spChg chg="mod">
          <ac:chgData name="jinguan chiou" userId="af6838b10049d8b4" providerId="LiveId" clId="{BDE80A10-783F-4778-879C-8992CD1E1974}" dt="2026-08-06T16:53:55.384" v="749" actId="27636"/>
          <ac:spMkLst>
            <pc:docMk/>
            <pc:sldMk cId="0" sldId="263"/>
            <ac:spMk id="35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383" v="748" actId="27636"/>
          <ac:spMkLst>
            <pc:docMk/>
            <pc:sldMk cId="0" sldId="263"/>
            <ac:spMk id="37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6:53:55.390" v="751" actId="27636"/>
        <pc:sldMkLst>
          <pc:docMk/>
          <pc:sldMk cId="0" sldId="264"/>
        </pc:sldMkLst>
        <pc:spChg chg="mod">
          <ac:chgData name="jinguan chiou" userId="af6838b10049d8b4" providerId="LiveId" clId="{BDE80A10-783F-4778-879C-8992CD1E1974}" dt="2026-08-06T16:53:55.388" v="750" actId="27636"/>
          <ac:spMkLst>
            <pc:docMk/>
            <pc:sldMk cId="0" sldId="264"/>
            <ac:spMk id="6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390" v="751" actId="27636"/>
          <ac:spMkLst>
            <pc:docMk/>
            <pc:sldMk cId="0" sldId="264"/>
            <ac:spMk id="9" creationId="{00000000-0000-0000-0000-000000000000}"/>
          </ac:spMkLst>
        </pc:spChg>
      </pc:sldChg>
      <pc:sldChg chg="addSp modSp mod">
        <pc:chgData name="jinguan chiou" userId="af6838b10049d8b4" providerId="LiveId" clId="{BDE80A10-783F-4778-879C-8992CD1E1974}" dt="2026-08-06T17:07:23.494" v="847" actId="14100"/>
        <pc:sldMkLst>
          <pc:docMk/>
          <pc:sldMk cId="0" sldId="265"/>
        </pc:sldMkLst>
        <pc:spChg chg="mod">
          <ac:chgData name="jinguan chiou" userId="af6838b10049d8b4" providerId="LiveId" clId="{BDE80A10-783F-4778-879C-8992CD1E1974}" dt="2026-08-06T16:53:55.393" v="752" actId="27636"/>
          <ac:spMkLst>
            <pc:docMk/>
            <pc:sldMk cId="0" sldId="265"/>
            <ac:spMk id="13" creationId="{00000000-0000-0000-0000-000000000000}"/>
          </ac:spMkLst>
        </pc:spChg>
        <pc:picChg chg="add mod modCrop">
          <ac:chgData name="jinguan chiou" userId="af6838b10049d8b4" providerId="LiveId" clId="{BDE80A10-783F-4778-879C-8992CD1E1974}" dt="2026-08-06T17:07:23.494" v="847" actId="14100"/>
          <ac:picMkLst>
            <pc:docMk/>
            <pc:sldMk cId="0" sldId="265"/>
            <ac:picMk id="15" creationId="{9C0B0FD5-5104-A3A3-BF2C-CBB60D5AC929}"/>
          </ac:picMkLst>
        </pc:picChg>
      </pc:sldChg>
      <pc:sldChg chg="modSp mod">
        <pc:chgData name="jinguan chiou" userId="af6838b10049d8b4" providerId="LiveId" clId="{BDE80A10-783F-4778-879C-8992CD1E1974}" dt="2026-08-06T16:53:55.403" v="760" actId="27636"/>
        <pc:sldMkLst>
          <pc:docMk/>
          <pc:sldMk cId="0" sldId="266"/>
        </pc:sldMkLst>
        <pc:spChg chg="mod">
          <ac:chgData name="jinguan chiou" userId="af6838b10049d8b4" providerId="LiveId" clId="{BDE80A10-783F-4778-879C-8992CD1E1974}" dt="2026-08-06T16:53:55.402" v="759" actId="27636"/>
          <ac:spMkLst>
            <pc:docMk/>
            <pc:sldMk cId="0" sldId="266"/>
            <ac:spMk id="6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398" v="755" actId="276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03" v="760" actId="276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399" v="756" actId="2763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01" v="758" actId="2763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398" v="754" actId="2763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397" v="753" actId="276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00" v="757" actId="27636"/>
          <ac:spMkLst>
            <pc:docMk/>
            <pc:sldMk cId="0" sldId="266"/>
            <ac:spMk id="19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7:09:09.243" v="861" actId="120"/>
        <pc:sldMkLst>
          <pc:docMk/>
          <pc:sldMk cId="0" sldId="267"/>
        </pc:sldMkLst>
        <pc:spChg chg="mod">
          <ac:chgData name="jinguan chiou" userId="af6838b10049d8b4" providerId="LiveId" clId="{BDE80A10-783F-4778-879C-8992CD1E1974}" dt="2026-08-06T17:09:09.243" v="861" actId="12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7:09:07.262" v="860" actId="120"/>
          <ac:spMkLst>
            <pc:docMk/>
            <pc:sldMk cId="0" sldId="267"/>
            <ac:spMk id="17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7:09:05.673" v="859" actId="120"/>
          <ac:spMkLst>
            <pc:docMk/>
            <pc:sldMk cId="0" sldId="267"/>
            <ac:spMk id="23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07" v="761" actId="27636"/>
          <ac:spMkLst>
            <pc:docMk/>
            <pc:sldMk cId="0" sldId="267"/>
            <ac:spMk id="27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7:09:03.475" v="858" actId="120"/>
          <ac:spMkLst>
            <pc:docMk/>
            <pc:sldMk cId="0" sldId="267"/>
            <ac:spMk id="29" creationId="{00000000-0000-0000-0000-000000000000}"/>
          </ac:spMkLst>
        </pc:spChg>
      </pc:sldChg>
      <pc:sldChg chg="addSp delSp modSp mod">
        <pc:chgData name="jinguan chiou" userId="af6838b10049d8b4" providerId="LiveId" clId="{BDE80A10-783F-4778-879C-8992CD1E1974}" dt="2026-08-06T17:19:47.871" v="1155" actId="1076"/>
        <pc:sldMkLst>
          <pc:docMk/>
          <pc:sldMk cId="0" sldId="268"/>
        </pc:sldMkLst>
        <pc:spChg chg="mod">
          <ac:chgData name="jinguan chiou" userId="af6838b10049d8b4" providerId="LiveId" clId="{BDE80A10-783F-4778-879C-8992CD1E1974}" dt="2026-08-06T16:53:55.410" v="762" actId="27636"/>
          <ac:spMkLst>
            <pc:docMk/>
            <pc:sldMk cId="0" sldId="268"/>
            <ac:spMk id="6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11" v="763" actId="27636"/>
          <ac:spMkLst>
            <pc:docMk/>
            <pc:sldMk cId="0" sldId="268"/>
            <ac:spMk id="9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12" v="765" actId="2763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7:10:04.515" v="862" actId="20577"/>
          <ac:spMkLst>
            <pc:docMk/>
            <pc:sldMk cId="0" sldId="268"/>
            <ac:spMk id="15" creationId="{00000000-0000-0000-0000-000000000000}"/>
          </ac:spMkLst>
        </pc:spChg>
        <pc:spChg chg="add mod">
          <ac:chgData name="jinguan chiou" userId="af6838b10049d8b4" providerId="LiveId" clId="{BDE80A10-783F-4778-879C-8992CD1E1974}" dt="2026-08-06T17:19:42.419" v="1154" actId="1076"/>
          <ac:spMkLst>
            <pc:docMk/>
            <pc:sldMk cId="0" sldId="268"/>
            <ac:spMk id="17" creationId="{A74B0A56-E035-2BCC-D52F-17AEC4716AD5}"/>
          </ac:spMkLst>
        </pc:spChg>
        <pc:spChg chg="add del mod">
          <ac:chgData name="jinguan chiou" userId="af6838b10049d8b4" providerId="LiveId" clId="{BDE80A10-783F-4778-879C-8992CD1E1974}" dt="2026-08-06T17:16:22.486" v="928" actId="478"/>
          <ac:spMkLst>
            <pc:docMk/>
            <pc:sldMk cId="0" sldId="268"/>
            <ac:spMk id="19" creationId="{FCF628FC-3FD2-7E8C-5A83-7A2669775B7D}"/>
          </ac:spMkLst>
        </pc:spChg>
        <pc:spChg chg="add mod">
          <ac:chgData name="jinguan chiou" userId="af6838b10049d8b4" providerId="LiveId" clId="{BDE80A10-783F-4778-879C-8992CD1E1974}" dt="2026-08-06T17:16:43.611" v="948" actId="122"/>
          <ac:spMkLst>
            <pc:docMk/>
            <pc:sldMk cId="0" sldId="268"/>
            <ac:spMk id="21" creationId="{9A0FE48A-8FB9-39D1-8DD5-0BAE850AC2FC}"/>
          </ac:spMkLst>
        </pc:spChg>
        <pc:spChg chg="add mod">
          <ac:chgData name="jinguan chiou" userId="af6838b10049d8b4" providerId="LiveId" clId="{BDE80A10-783F-4778-879C-8992CD1E1974}" dt="2026-08-06T17:19:47.871" v="1155" actId="1076"/>
          <ac:spMkLst>
            <pc:docMk/>
            <pc:sldMk cId="0" sldId="268"/>
            <ac:spMk id="23" creationId="{3E0C25A4-561E-0169-1514-B19F59AD60C2}"/>
          </ac:spMkLst>
        </pc:spChg>
      </pc:sldChg>
      <pc:sldChg chg="modSp mod">
        <pc:chgData name="jinguan chiou" userId="af6838b10049d8b4" providerId="LiveId" clId="{BDE80A10-783F-4778-879C-8992CD1E1974}" dt="2026-08-06T17:20:17.087" v="1156" actId="113"/>
        <pc:sldMkLst>
          <pc:docMk/>
          <pc:sldMk cId="0" sldId="269"/>
        </pc:sldMkLst>
        <pc:spChg chg="mod">
          <ac:chgData name="jinguan chiou" userId="af6838b10049d8b4" providerId="LiveId" clId="{BDE80A10-783F-4778-879C-8992CD1E1974}" dt="2026-08-06T16:53:55.417" v="767" actId="27636"/>
          <ac:spMkLst>
            <pc:docMk/>
            <pc:sldMk cId="0" sldId="269"/>
            <ac:spMk id="8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18" v="768" actId="2763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16" v="766" actId="2763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7:20:17.087" v="1156" actId="113"/>
          <ac:spMkLst>
            <pc:docMk/>
            <pc:sldMk cId="0" sldId="269"/>
            <ac:spMk id="18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7:10:44.755" v="868" actId="1035"/>
        <pc:sldMkLst>
          <pc:docMk/>
          <pc:sldMk cId="0" sldId="270"/>
        </pc:sldMkLst>
        <pc:spChg chg="mod">
          <ac:chgData name="jinguan chiou" userId="af6838b10049d8b4" providerId="LiveId" clId="{BDE80A10-783F-4778-879C-8992CD1E1974}" dt="2026-08-06T17:10:44.755" v="868" actId="1035"/>
          <ac:spMkLst>
            <pc:docMk/>
            <pc:sldMk cId="0" sldId="270"/>
            <ac:spMk id="29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6:53:55.422" v="771" actId="27636"/>
        <pc:sldMkLst>
          <pc:docMk/>
          <pc:sldMk cId="0" sldId="271"/>
        </pc:sldMkLst>
        <pc:spChg chg="mod">
          <ac:chgData name="jinguan chiou" userId="af6838b10049d8b4" providerId="LiveId" clId="{BDE80A10-783F-4778-879C-8992CD1E1974}" dt="2026-08-06T16:53:55.422" v="771" actId="27636"/>
          <ac:spMkLst>
            <pc:docMk/>
            <pc:sldMk cId="0" sldId="271"/>
            <ac:spMk id="7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21" v="770" actId="2763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21" v="769" actId="27636"/>
          <ac:spMkLst>
            <pc:docMk/>
            <pc:sldMk cId="0" sldId="271"/>
            <ac:spMk id="15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6:53:55.427" v="775" actId="27636"/>
        <pc:sldMkLst>
          <pc:docMk/>
          <pc:sldMk cId="0" sldId="272"/>
        </pc:sldMkLst>
        <pc:spChg chg="mod">
          <ac:chgData name="jinguan chiou" userId="af6838b10049d8b4" providerId="LiveId" clId="{BDE80A10-783F-4778-879C-8992CD1E1974}" dt="2026-08-06T16:53:55.426" v="774" actId="2763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26" v="773" actId="2763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25" v="772" actId="2763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jinguan chiou" userId="af6838b10049d8b4" providerId="LiveId" clId="{BDE80A10-783F-4778-879C-8992CD1E1974}" dt="2026-08-06T16:53:55.427" v="775" actId="27636"/>
          <ac:spMkLst>
            <pc:docMk/>
            <pc:sldMk cId="0" sldId="272"/>
            <ac:spMk id="19" creationId="{00000000-0000-0000-0000-000000000000}"/>
          </ac:spMkLst>
        </pc:spChg>
      </pc:sldChg>
      <pc:sldChg chg="modSp mod">
        <pc:chgData name="jinguan chiou" userId="af6838b10049d8b4" providerId="LiveId" clId="{BDE80A10-783F-4778-879C-8992CD1E1974}" dt="2026-08-06T16:53:55.431" v="776" actId="27636"/>
        <pc:sldMkLst>
          <pc:docMk/>
          <pc:sldMk cId="0" sldId="273"/>
        </pc:sldMkLst>
        <pc:spChg chg="mod">
          <ac:chgData name="jinguan chiou" userId="af6838b10049d8b4" providerId="LiveId" clId="{BDE80A10-783F-4778-879C-8992CD1E1974}" dt="2026-08-06T16:53:55.431" v="776" actId="27636"/>
          <ac:spMkLst>
            <pc:docMk/>
            <pc:sldMk cId="0" sldId="273"/>
            <ac:spMk id="12" creationId="{00000000-0000-0000-0000-000000000000}"/>
          </ac:spMkLst>
        </pc:spChg>
      </pc:sldChg>
      <pc:sldChg chg="delSp modSp mod">
        <pc:chgData name="jinguan chiou" userId="af6838b10049d8b4" providerId="LiveId" clId="{BDE80A10-783F-4778-879C-8992CD1E1974}" dt="2026-08-06T17:12:06.605" v="871" actId="478"/>
        <pc:sldMkLst>
          <pc:docMk/>
          <pc:sldMk cId="0" sldId="274"/>
        </pc:sldMkLst>
        <pc:spChg chg="mod">
          <ac:chgData name="jinguan chiou" userId="af6838b10049d8b4" providerId="LiveId" clId="{BDE80A10-783F-4778-879C-8992CD1E1974}" dt="2026-08-06T16:37:50.538" v="8" actId="113"/>
          <ac:spMkLst>
            <pc:docMk/>
            <pc:sldMk cId="0" sldId="274"/>
            <ac:spMk id="20" creationId="{00000000-0000-0000-0000-000000000000}"/>
          </ac:spMkLst>
        </pc:spChg>
        <pc:spChg chg="del mod">
          <ac:chgData name="jinguan chiou" userId="af6838b10049d8b4" providerId="LiveId" clId="{BDE80A10-783F-4778-879C-8992CD1E1974}" dt="2026-08-06T17:12:05.388" v="870" actId="478"/>
          <ac:spMkLst>
            <pc:docMk/>
            <pc:sldMk cId="0" sldId="274"/>
            <ac:spMk id="21" creationId="{00000000-0000-0000-0000-000000000000}"/>
          </ac:spMkLst>
        </pc:spChg>
        <pc:spChg chg="del">
          <ac:chgData name="jinguan chiou" userId="af6838b10049d8b4" providerId="LiveId" clId="{BDE80A10-783F-4778-879C-8992CD1E1974}" dt="2026-08-06T17:12:06.605" v="871" actId="478"/>
          <ac:spMkLst>
            <pc:docMk/>
            <pc:sldMk cId="0" sldId="274"/>
            <ac:spMk id="22" creationId="{00000000-0000-0000-0000-000000000000}"/>
          </ac:spMkLst>
        </pc:spChg>
      </pc:sldChg>
      <pc:sldChg chg="delSp modSp mod">
        <pc:chgData name="jinguan chiou" userId="af6838b10049d8b4" providerId="LiveId" clId="{BDE80A10-783F-4778-879C-8992CD1E1974}" dt="2026-08-06T16:37:45.092" v="7" actId="478"/>
        <pc:sldMkLst>
          <pc:docMk/>
          <pc:sldMk cId="0" sldId="275"/>
        </pc:sldMkLst>
        <pc:spChg chg="del mod">
          <ac:chgData name="jinguan chiou" userId="af6838b10049d8b4" providerId="LiveId" clId="{BDE80A10-783F-4778-879C-8992CD1E1974}" dt="2026-08-06T16:37:38.353" v="5" actId="478"/>
          <ac:spMkLst>
            <pc:docMk/>
            <pc:sldMk cId="0" sldId="275"/>
            <ac:spMk id="5" creationId="{00000000-0000-0000-0000-000000000000}"/>
          </ac:spMkLst>
        </pc:spChg>
        <pc:spChg chg="del mod">
          <ac:chgData name="jinguan chiou" userId="af6838b10049d8b4" providerId="LiveId" clId="{BDE80A10-783F-4778-879C-8992CD1E1974}" dt="2026-08-06T16:37:45.092" v="7" actId="478"/>
          <ac:spMkLst>
            <pc:docMk/>
            <pc:sldMk cId="0" sldId="275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36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開場：團隊名稱與題目。本研究從 2D 動漫影片抽取 3D 人體動作。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團隊兩位碩一成員，指導老師林士勛副教授。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研究動機：藝術創作為靜態成品，其中的動作資訊無法被 3D 製作直接使用。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依官方構想書五大項展開。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3D 動作資料的兩種既有取得方式與其限制；動漫影片中的動作尚無可行的取得途徑。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系統輸入為 2D 動漫影片，輸出為 SMPL-X 動作序列，可直接匯入主流 3D 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三項技術貢獻，第三項跨分鏡時序融合為本研究之主要貢獻。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每項改進均以 A/B 對照實驗驗證，唯一變因為該項技術。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技術可行性、與實驗室之關聯，以及授權條件。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原型已可端到端執行，並於新海誠作品片段實測。此處置入實際輸出截圖。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四個市場對 3D 人體動作皆有共同需求。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既有方案在動漫設定下的限制，即本研究之切入點。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差異化來自供給稀缺性、問題設定難度，以及資料規模隨使用累積。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服務以雲端推論提供；三條通路；初期客戶自兩類需求最明確的客群切入。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三種營收來源與定價方式；主要成本為 GPU 運算。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短中長期三階段規劃。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資金來源與運用比例，為起步階段之示意框架。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獲利結構、損益平衡與成長來源；具體數字待營運展開後建模。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兩位碩一成員分工，指導老師提供學術指導；獲獎經歷待補，尚無已核准專利。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結語與附件；保留時間回答評審提問。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49923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168" dirty="0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第一屆臺科青創 · 創業黑客松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895290" y="952500"/>
            <a:ext cx="158423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168" dirty="0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創業構想書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2875806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62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人類補完計劃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3599706"/>
            <a:ext cx="16874490" cy="2217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56"/>
              </a:lnSpc>
              <a:buNone/>
            </a:pPr>
            <a:r>
              <a:rPr lang="en-US" sz="7800" b="1" kern="0" spc="-234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跨分鏡 2D 藝術之 3D 人體動作提取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952500" y="6121747"/>
            <a:ext cx="146685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600"/>
              </a:lnSpc>
              <a:buNone/>
            </a:pPr>
            <a:r>
              <a:rPr lang="en-US" sz="3300" dirty="0">
                <a:solidFill>
                  <a:srgbClr val="C8C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從動漫影片還原每個角色、每一幀的 3D 姿態序列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52500" y="7072313"/>
            <a:ext cx="2095500" cy="57150"/>
          </a:xfrm>
          <a:prstGeom prst="rect">
            <a:avLst/>
          </a:prstGeom>
          <a:solidFill>
            <a:srgbClr val="3A7BCB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8671620"/>
            <a:ext cx="62725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 err="1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提案名稱</a:t>
            </a:r>
            <a:r>
              <a:rPr lang="en-US" sz="2100" dirty="0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2100" dirty="0" err="1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基於跨分鏡與多視角</a:t>
            </a:r>
            <a:r>
              <a:rPr lang="en-US" sz="2100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2D 人類藝術之 3D 姿態提取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496323" y="8671620"/>
            <a:ext cx="199540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 err="1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參賽主題</a:t>
            </a:r>
            <a:r>
              <a:rPr lang="en-US" sz="2100" dirty="0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2100" dirty="0" err="1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人工智慧應用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858524" y="8671620"/>
            <a:ext cx="106099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 </a:t>
            </a:r>
            <a:r>
              <a:rPr lang="en-US" sz="2100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INFORMATION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240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提案基本資料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786211"/>
            <a:ext cx="2667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043386"/>
            <a:ext cx="27470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團隊名稱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4076700" y="2786211"/>
            <a:ext cx="132588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7" name="Text 5"/>
          <p:cNvSpPr/>
          <p:nvPr/>
        </p:nvSpPr>
        <p:spPr>
          <a:xfrm>
            <a:off x="4076700" y="3043386"/>
            <a:ext cx="1365656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人類補完計劃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776811"/>
            <a:ext cx="2667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033986"/>
            <a:ext cx="27470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提案名稱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4076700" y="3776811"/>
            <a:ext cx="132588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1" name="Text 9"/>
          <p:cNvSpPr/>
          <p:nvPr/>
        </p:nvSpPr>
        <p:spPr>
          <a:xfrm>
            <a:off x="4076700" y="4033986"/>
            <a:ext cx="1365656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基於跨分鏡與多視角 2D 人類藝術之 3D 姿態提取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4767411"/>
            <a:ext cx="2667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5024586"/>
            <a:ext cx="27470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領隊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4076700" y="4767411"/>
            <a:ext cx="132588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5" name="Text 13"/>
          <p:cNvSpPr/>
          <p:nvPr/>
        </p:nvSpPr>
        <p:spPr>
          <a:xfrm>
            <a:off x="4076700" y="5024586"/>
            <a:ext cx="1365656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邱靖原 · 臺灣科技大學 人工智慧跨域科技研究所 碩一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5758011"/>
            <a:ext cx="2667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6015186"/>
            <a:ext cx="27470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成員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4076700" y="5758011"/>
            <a:ext cx="132588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9" name="Text 17"/>
          <p:cNvSpPr/>
          <p:nvPr/>
        </p:nvSpPr>
        <p:spPr>
          <a:xfrm>
            <a:off x="4076700" y="6015186"/>
            <a:ext cx="1365656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蔡枘勳 · 臺灣科技大學 人工智慧跨域科技研究所 碩一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52500" y="7739211"/>
            <a:ext cx="2667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" y="6748611"/>
            <a:ext cx="2667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7005786"/>
            <a:ext cx="274701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指導老師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4076700" y="7739211"/>
            <a:ext cx="132588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24" name="Shape 22"/>
          <p:cNvSpPr/>
          <p:nvPr/>
        </p:nvSpPr>
        <p:spPr>
          <a:xfrm>
            <a:off x="4076700" y="6748611"/>
            <a:ext cx="132588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25" name="Text 23"/>
          <p:cNvSpPr/>
          <p:nvPr/>
        </p:nvSpPr>
        <p:spPr>
          <a:xfrm>
            <a:off x="4076700" y="7005786"/>
            <a:ext cx="13656564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769"/>
              </a:lnSpc>
              <a:buNone/>
            </a:pPr>
            <a:r>
              <a:rPr lang="en-US" sz="255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林士勛 副教授 · 臺灣科技大學 人工智慧跨域科技研究所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131939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336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研究動機</a:t>
            </a:r>
            <a:endParaRPr lang="en-US" sz="2100" b="1" dirty="0"/>
          </a:p>
        </p:txBody>
      </p:sp>
      <p:sp>
        <p:nvSpPr>
          <p:cNvPr id="3" name="Text 1"/>
          <p:cNvSpPr/>
          <p:nvPr/>
        </p:nvSpPr>
        <p:spPr>
          <a:xfrm>
            <a:off x="952501" y="4008239"/>
            <a:ext cx="15146092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zh-TW" altLang="en-US" sz="4350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讓我們解放藝術中的大量高價值</a:t>
            </a:r>
            <a:r>
              <a:rPr lang="en-US" altLang="zh-TW" sz="4350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r>
              <a:rPr lang="zh-TW" altLang="en-US" sz="4350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動作，讓藝術真正意義上的</a:t>
            </a:r>
            <a:r>
              <a:rPr lang="zh-TW" altLang="en-US" sz="435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活過來</a:t>
            </a:r>
            <a:endParaRPr lang="en-US" sz="4350" b="1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6105525"/>
            <a:ext cx="14716125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3150" dirty="0">
                <a:solidFill>
                  <a:srgbClr val="C8C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本研究以人工智慧方法還原 2D 藝術創作中角色的三維動作，使既有創作成為可再利用的動作資源。</a:t>
            </a:r>
            <a:endParaRPr lang="en-US" sz="3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240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內容綱要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852805"/>
            <a:ext cx="1143000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219598"/>
            <a:ext cx="1219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2552700" y="2852886"/>
            <a:ext cx="6821686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7" name="Text 5"/>
          <p:cNvSpPr/>
          <p:nvPr/>
        </p:nvSpPr>
        <p:spPr>
          <a:xfrm>
            <a:off x="2552700" y="3340151"/>
            <a:ext cx="702633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產品構想說明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831586" y="2850889"/>
            <a:ext cx="7503914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9" name="Text 7"/>
          <p:cNvSpPr/>
          <p:nvPr/>
        </p:nvSpPr>
        <p:spPr>
          <a:xfrm>
            <a:off x="9831586" y="3151752"/>
            <a:ext cx="7729031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問題定義 · 系統輸入輸出 · 技術貢獻 · 實驗結果 · 可行性 · 原型驗證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52500" y="4319736"/>
            <a:ext cx="1143000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521240"/>
            <a:ext cx="1219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3900" b="1" dirty="0"/>
          </a:p>
        </p:txBody>
      </p:sp>
      <p:sp>
        <p:nvSpPr>
          <p:cNvPr id="12" name="Shape 10"/>
          <p:cNvSpPr/>
          <p:nvPr/>
        </p:nvSpPr>
        <p:spPr>
          <a:xfrm>
            <a:off x="2552700" y="4319736"/>
            <a:ext cx="6821686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3" name="Text 11"/>
          <p:cNvSpPr/>
          <p:nvPr/>
        </p:nvSpPr>
        <p:spPr>
          <a:xfrm>
            <a:off x="2552700" y="4629298"/>
            <a:ext cx="702633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目標市場與競爭分析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831586" y="4319736"/>
            <a:ext cx="7503914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5" name="Text 13"/>
          <p:cNvSpPr/>
          <p:nvPr/>
        </p:nvSpPr>
        <p:spPr>
          <a:xfrm>
            <a:off x="9831586" y="4676922"/>
            <a:ext cx="772903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市場規模與客群 · 既有方案比較 · 差異化與市場定位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952500" y="5462736"/>
            <a:ext cx="1143000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825747"/>
            <a:ext cx="1219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3900" dirty="0"/>
          </a:p>
        </p:txBody>
      </p:sp>
      <p:sp>
        <p:nvSpPr>
          <p:cNvPr id="18" name="Shape 16"/>
          <p:cNvSpPr/>
          <p:nvPr/>
        </p:nvSpPr>
        <p:spPr>
          <a:xfrm>
            <a:off x="2552700" y="5462736"/>
            <a:ext cx="6821686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9" name="Text 17"/>
          <p:cNvSpPr/>
          <p:nvPr/>
        </p:nvSpPr>
        <p:spPr>
          <a:xfrm>
            <a:off x="2552700" y="5938986"/>
            <a:ext cx="702633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營運模式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831586" y="5462736"/>
            <a:ext cx="7503914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21" name="Text 19"/>
          <p:cNvSpPr/>
          <p:nvPr/>
        </p:nvSpPr>
        <p:spPr>
          <a:xfrm>
            <a:off x="9831586" y="5986610"/>
            <a:ext cx="772903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銷售通路與初期客戶 · 營收結構與定價 · 階段性發展規劃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952500" y="6929586"/>
            <a:ext cx="1143000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7141095"/>
            <a:ext cx="1219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</a:t>
            </a:r>
            <a:endParaRPr lang="en-US" sz="3900" dirty="0"/>
          </a:p>
        </p:txBody>
      </p:sp>
      <p:sp>
        <p:nvSpPr>
          <p:cNvPr id="24" name="Shape 22"/>
          <p:cNvSpPr/>
          <p:nvPr/>
        </p:nvSpPr>
        <p:spPr>
          <a:xfrm>
            <a:off x="2552700" y="6929586"/>
            <a:ext cx="6821686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25" name="Text 23"/>
          <p:cNvSpPr/>
          <p:nvPr/>
        </p:nvSpPr>
        <p:spPr>
          <a:xfrm>
            <a:off x="2552699" y="7255394"/>
            <a:ext cx="702633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財務規劃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9831586" y="6929586"/>
            <a:ext cx="7503914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27" name="Text 25"/>
          <p:cNvSpPr/>
          <p:nvPr/>
        </p:nvSpPr>
        <p:spPr>
          <a:xfrm>
            <a:off x="9831585" y="7303018"/>
            <a:ext cx="772903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資金結構與運用 · 財務預測</a:t>
            </a:r>
            <a:endParaRPr lang="en-US" sz="2175" dirty="0"/>
          </a:p>
        </p:txBody>
      </p:sp>
      <p:sp>
        <p:nvSpPr>
          <p:cNvPr id="28" name="Shape 26"/>
          <p:cNvSpPr/>
          <p:nvPr/>
        </p:nvSpPr>
        <p:spPr>
          <a:xfrm>
            <a:off x="952500" y="8997397"/>
            <a:ext cx="1143000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29" name="Shape 27"/>
          <p:cNvSpPr/>
          <p:nvPr/>
        </p:nvSpPr>
        <p:spPr>
          <a:xfrm>
            <a:off x="987917" y="8057240"/>
            <a:ext cx="1143000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30" name="Text 28"/>
          <p:cNvSpPr/>
          <p:nvPr/>
        </p:nvSpPr>
        <p:spPr>
          <a:xfrm>
            <a:off x="1002575" y="8205935"/>
            <a:ext cx="12192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</a:t>
            </a:r>
            <a:endParaRPr lang="en-US" sz="3900" dirty="0"/>
          </a:p>
        </p:txBody>
      </p:sp>
      <p:sp>
        <p:nvSpPr>
          <p:cNvPr id="31" name="Shape 29"/>
          <p:cNvSpPr/>
          <p:nvPr/>
        </p:nvSpPr>
        <p:spPr>
          <a:xfrm>
            <a:off x="2552700" y="8986986"/>
            <a:ext cx="6821686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32" name="Shape 30"/>
          <p:cNvSpPr/>
          <p:nvPr/>
        </p:nvSpPr>
        <p:spPr>
          <a:xfrm>
            <a:off x="2552700" y="8072586"/>
            <a:ext cx="6821686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33" name="Text 31"/>
          <p:cNvSpPr/>
          <p:nvPr/>
        </p:nvSpPr>
        <p:spPr>
          <a:xfrm>
            <a:off x="2552698" y="8320234"/>
            <a:ext cx="702633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團隊與學術支持</a:t>
            </a:r>
            <a:endParaRPr lang="en-US" sz="2700" dirty="0"/>
          </a:p>
        </p:txBody>
      </p:sp>
      <p:sp>
        <p:nvSpPr>
          <p:cNvPr id="34" name="Shape 32"/>
          <p:cNvSpPr/>
          <p:nvPr/>
        </p:nvSpPr>
        <p:spPr>
          <a:xfrm>
            <a:off x="9831586" y="9006922"/>
            <a:ext cx="7503914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35" name="Shape 33"/>
          <p:cNvSpPr/>
          <p:nvPr/>
        </p:nvSpPr>
        <p:spPr>
          <a:xfrm>
            <a:off x="9831586" y="8082111"/>
            <a:ext cx="7503914" cy="9525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36" name="Text 34"/>
          <p:cNvSpPr/>
          <p:nvPr/>
        </p:nvSpPr>
        <p:spPr>
          <a:xfrm>
            <a:off x="9831586" y="8367861"/>
            <a:ext cx="772903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成員分工 · 指導老師 · 獲獎與專利現況</a:t>
            </a:r>
            <a:endParaRPr lang="en-US" sz="21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顧客問題與需求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動作資料的取得成本與限制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519511"/>
            <a:ext cx="1571625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動畫、遊戲、虛擬偶像與動作生成模型皆需大量 3D 人體動作資料，目前僅有兩種取得方式。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52500" y="3449092"/>
            <a:ext cx="7981950" cy="28569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868192"/>
            <a:ext cx="785812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真人動作捕捉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71600" y="4553992"/>
            <a:ext cx="785812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一天數萬元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371600" y="5458867"/>
            <a:ext cx="7858125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212"/>
              </a:lnSpc>
              <a:buNone/>
            </a:pPr>
            <a:r>
              <a:rPr lang="en-US" sz="217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僅能取得真人可執行的動作，並需演員、場地與器材。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9353550" y="3449092"/>
            <a:ext cx="7981950" cy="28569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772650" y="3868192"/>
            <a:ext cx="785812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人工逐格製作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772650" y="4553992"/>
            <a:ext cx="785812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一秒數百至數千元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772650" y="5458867"/>
            <a:ext cx="7858125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212"/>
              </a:lnSpc>
              <a:buNone/>
            </a:pPr>
            <a:r>
              <a:rPr lang="en-US" sz="217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製作耗時且成本高，並高度依賴資深動畫師。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52500" y="6801296"/>
            <a:ext cx="16383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7220396"/>
            <a:ext cx="2514600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 err="1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未被利用的資源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3695700" y="7191821"/>
            <a:ext cx="14048994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 err="1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既有動漫作品累積數十年、數十萬集，其中大量誇張與非寫實動作為真人動作捕捉所無法取得，目前僅存在於</a:t>
            </a: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2D 影像之中。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系統輸入與輸出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輸入動漫影片，輸出 SMPL-X 動作序列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900511"/>
            <a:ext cx="4308277" cy="1866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319611"/>
            <a:ext cx="38170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71600" y="3795861"/>
            <a:ext cx="381708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動漫影片 / 繪畫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41777" y="3524399"/>
            <a:ext cx="6096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556177" y="2900511"/>
            <a:ext cx="5175647" cy="18669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6975277" y="3319611"/>
            <a:ext cx="477119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9AA1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75277" y="3795861"/>
            <a:ext cx="477119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跨分鏡 3D 姿態提取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112823" y="3524399"/>
            <a:ext cx="6096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3027223" y="2900511"/>
            <a:ext cx="4308277" cy="1866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446323" y="3319611"/>
            <a:ext cx="38170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446323" y="3795861"/>
            <a:ext cx="381708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SMPL-X 動作序列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52500" y="5377011"/>
            <a:ext cx="16383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862786"/>
            <a:ext cx="1219200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支援匯入</a:t>
            </a:r>
            <a:endParaRPr lang="en-US" sz="2250" b="1" dirty="0"/>
          </a:p>
        </p:txBody>
      </p:sp>
      <p:sp>
        <p:nvSpPr>
          <p:cNvPr id="17" name="Text 15"/>
          <p:cNvSpPr/>
          <p:nvPr/>
        </p:nvSpPr>
        <p:spPr>
          <a:xfrm>
            <a:off x="2628900" y="5805636"/>
            <a:ext cx="146979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B1E2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Blender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22279" y="5805636"/>
            <a:ext cx="100979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B1E2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Unity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13078" y="5805636"/>
            <a:ext cx="122827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B1E2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Unreal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22356" y="5805636"/>
            <a:ext cx="10161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B1E2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MMD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52500" y="6634311"/>
            <a:ext cx="180213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22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輸出涵蓋畫面中每個角色、每一幀的三維姿態，採用學界與業界通用之 SMPL-X 參數格式。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技術創新性與核心技術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三項核心技術貢獻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824311"/>
            <a:ext cx="5206901" cy="6700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43411"/>
            <a:ext cx="480557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091136"/>
            <a:ext cx="4805571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50" b="1" kern="0" spc="-29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動漫適配之 2D 前端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71600" y="4808339"/>
            <a:ext cx="4499762" cy="2171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SAM3 進行多角色分割，再由 Sapiens2 偵測二維關節，處理多角色遮擋與畫面截斷；多角色畫面之關節偵測覆蓋率提升逾一倍，並可提供頸部與腳趾等原先缺漏之關節。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40401" y="2824311"/>
            <a:ext cx="5207050" cy="6700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959501" y="3243411"/>
            <a:ext cx="480573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8D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959501" y="4091136"/>
            <a:ext cx="4805735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50" b="1" kern="0" spc="-29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比例不變之幾何監督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959501" y="4808339"/>
            <a:ext cx="4499915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動漫角色體型比例與真人參數化模型不符。所提出之骨段方向損失僅約束骨段朝向、與體型尺度無關，可避免姿態為吸收比例誤差而變形。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28450" y="2824311"/>
            <a:ext cx="5207050" cy="6700689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547550" y="3243411"/>
            <a:ext cx="48057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主要貢獻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547550" y="3853011"/>
            <a:ext cx="4805735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50" b="1" kern="0" spc="-29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跨分鏡時序融合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547550" y="4570214"/>
            <a:ext cx="4499915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C8C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以角色特徵辨識同一角色於不同分鏡之對應，沿時間軸整合各分鏡之部分觀測；當單一分鏡遮擋嚴重時，由其他分鏡之觀測補足缺漏。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量化實驗結果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關節誤差之逐項改善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481411"/>
            <a:ext cx="18021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MPJPE，單位 mm，數值越低越佳；各項改進均經 A/B 對照實驗驗證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4214961"/>
            <a:ext cx="5302151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567261"/>
            <a:ext cx="546121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254651" y="4214961"/>
            <a:ext cx="1905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8" name="Text 6"/>
          <p:cNvSpPr/>
          <p:nvPr/>
        </p:nvSpPr>
        <p:spPr>
          <a:xfrm>
            <a:off x="6178451" y="3567261"/>
            <a:ext cx="1981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全身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159651" y="4214961"/>
            <a:ext cx="1905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0" name="Text 8"/>
          <p:cNvSpPr/>
          <p:nvPr/>
        </p:nvSpPr>
        <p:spPr>
          <a:xfrm>
            <a:off x="8083451" y="3567261"/>
            <a:ext cx="1981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特寫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5157936"/>
            <a:ext cx="5302151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4472136"/>
            <a:ext cx="546121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基線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54651" y="5157936"/>
            <a:ext cx="1905000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4" name="Text 12"/>
          <p:cNvSpPr/>
          <p:nvPr/>
        </p:nvSpPr>
        <p:spPr>
          <a:xfrm>
            <a:off x="6178451" y="4472136"/>
            <a:ext cx="1981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95.7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59651" y="5157936"/>
            <a:ext cx="1905000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6" name="Text 14"/>
          <p:cNvSpPr/>
          <p:nvPr/>
        </p:nvSpPr>
        <p:spPr>
          <a:xfrm>
            <a:off x="8083451" y="4472136"/>
            <a:ext cx="1981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204.3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52500" y="6100911"/>
            <a:ext cx="5302151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5415111"/>
            <a:ext cx="546121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2D 前端替換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54651" y="6100911"/>
            <a:ext cx="1905000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20" name="Text 18"/>
          <p:cNvSpPr/>
          <p:nvPr/>
        </p:nvSpPr>
        <p:spPr>
          <a:xfrm>
            <a:off x="6178451" y="5415111"/>
            <a:ext cx="1981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90.5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159651" y="6100911"/>
            <a:ext cx="1905000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22" name="Text 20"/>
          <p:cNvSpPr/>
          <p:nvPr/>
        </p:nvSpPr>
        <p:spPr>
          <a:xfrm>
            <a:off x="8083451" y="5415111"/>
            <a:ext cx="1981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191.3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52500" y="7043886"/>
            <a:ext cx="5302151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6358086"/>
            <a:ext cx="546121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重投影損失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254651" y="7043886"/>
            <a:ext cx="1905000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26" name="Text 24"/>
          <p:cNvSpPr/>
          <p:nvPr/>
        </p:nvSpPr>
        <p:spPr>
          <a:xfrm>
            <a:off x="6178451" y="6358086"/>
            <a:ext cx="1981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88.7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8159651" y="7043886"/>
            <a:ext cx="1905000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28" name="Text 26"/>
          <p:cNvSpPr/>
          <p:nvPr/>
        </p:nvSpPr>
        <p:spPr>
          <a:xfrm>
            <a:off x="8083451" y="6358086"/>
            <a:ext cx="1981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185.1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52500" y="7986861"/>
            <a:ext cx="5302151" cy="19050"/>
          </a:xfrm>
          <a:prstGeom prst="rect">
            <a:avLst/>
          </a:prstGeom>
          <a:solidFill>
            <a:srgbClr val="1B1E26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7301061"/>
            <a:ext cx="546121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骨段方向損失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6254651" y="7986861"/>
            <a:ext cx="1905000" cy="19050"/>
          </a:xfrm>
          <a:prstGeom prst="rect">
            <a:avLst/>
          </a:prstGeom>
          <a:solidFill>
            <a:srgbClr val="1B1E26"/>
          </a:solidFill>
          <a:ln/>
        </p:spPr>
      </p:sp>
      <p:sp>
        <p:nvSpPr>
          <p:cNvPr id="32" name="Text 30"/>
          <p:cNvSpPr/>
          <p:nvPr/>
        </p:nvSpPr>
        <p:spPr>
          <a:xfrm>
            <a:off x="6178451" y="7301061"/>
            <a:ext cx="1981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87.2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8159651" y="7986861"/>
            <a:ext cx="1905000" cy="19050"/>
          </a:xfrm>
          <a:prstGeom prst="rect">
            <a:avLst/>
          </a:prstGeom>
          <a:solidFill>
            <a:srgbClr val="1B1E26"/>
          </a:solidFill>
          <a:ln/>
        </p:spPr>
      </p:sp>
      <p:sp>
        <p:nvSpPr>
          <p:cNvPr id="34" name="Text 32"/>
          <p:cNvSpPr/>
          <p:nvPr/>
        </p:nvSpPr>
        <p:spPr>
          <a:xfrm>
            <a:off x="8083451" y="7301061"/>
            <a:ext cx="1981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826651" y="3357711"/>
            <a:ext cx="715957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273"/>
              </a:lnSpc>
              <a:buNone/>
            </a:pPr>
            <a:r>
              <a:rPr lang="en-US" sz="720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−8.9%</a:t>
            </a:r>
            <a:endParaRPr lang="en-US" sz="7200" dirty="0"/>
          </a:p>
        </p:txBody>
      </p:sp>
      <p:sp>
        <p:nvSpPr>
          <p:cNvPr id="36" name="Text 34"/>
          <p:cNvSpPr/>
          <p:nvPr/>
        </p:nvSpPr>
        <p:spPr>
          <a:xfrm>
            <a:off x="10826651" y="4386411"/>
            <a:ext cx="71595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全身關節誤差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0826651" y="5186511"/>
            <a:ext cx="715957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273"/>
              </a:lnSpc>
              <a:buNone/>
            </a:pPr>
            <a:r>
              <a:rPr lang="en-US" sz="7200" b="1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−10.2%</a:t>
            </a:r>
            <a:endParaRPr lang="en-US" sz="7200" dirty="0"/>
          </a:p>
        </p:txBody>
      </p:sp>
      <p:sp>
        <p:nvSpPr>
          <p:cNvPr id="38" name="Text 36"/>
          <p:cNvSpPr/>
          <p:nvPr/>
        </p:nvSpPr>
        <p:spPr>
          <a:xfrm>
            <a:off x="10826651" y="6215211"/>
            <a:ext cx="715957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特寫關節誤差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可行性、實驗室關聯與授權條件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技術可行性與授權條件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824311"/>
            <a:ext cx="5206901" cy="6700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43411"/>
            <a:ext cx="480557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技術可行性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71600" y="3948261"/>
            <a:ext cx="4499762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已完成可運作原型，並於真實動漫片段輸出多角色三維動作；關節精度較基線改善 8.9–10.2%。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6540401" y="2824311"/>
            <a:ext cx="5207050" cy="6700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959501" y="3243411"/>
            <a:ext cx="48057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與本校實驗室之關聯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59501" y="3948261"/>
            <a:ext cx="4499915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以指導老師林士勛副教授實驗室之研究方向為基礎，由團隊延伸開發，屬學術研究成果之產業應用。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2128450" y="2824311"/>
            <a:ext cx="5207050" cy="6700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47550" y="3243411"/>
            <a:ext cx="48057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授權使用自由度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547550" y="3948261"/>
            <a:ext cx="4499915" cy="2247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自行研發部分之智慧財產權歸屬明確；所使用之開源模型採寬鬆研究與商用授權；學術方法為公開發表成果，本研究為其未涵蓋設定之延伸。</a:t>
            </a:r>
            <a:endParaRPr lang="en-US" sz="21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 原型與概念驗證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原型現況與驗證方式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786211"/>
            <a:ext cx="174575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325" dirty="0"/>
          </a:p>
        </p:txBody>
      </p:sp>
      <p:sp>
        <p:nvSpPr>
          <p:cNvPr id="5" name="Text 3"/>
          <p:cNvSpPr/>
          <p:nvPr/>
        </p:nvSpPr>
        <p:spPr>
          <a:xfrm>
            <a:off x="1260425" y="2786211"/>
            <a:ext cx="7806138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完整流程已可端到端執行：動漫影片 → SAM3 分割 → Sapiens2 二維關節 → 三維姿態提取 → 多角色動作輸出。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952500" y="3987254"/>
            <a:ext cx="174575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260425" y="3987254"/>
            <a:ext cx="7806138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於真實動漫片段（新海誠作品）實測，可輸出多角色之三維網格與骨架。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952500" y="5188297"/>
            <a:ext cx="174575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260425" y="5188297"/>
            <a:ext cx="7806138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各項技術改進均以 A/B 對照實驗量化驗證，並完整記錄有效與無效之實驗結果。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52500" y="6389340"/>
            <a:ext cx="174575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1260425" y="6389340"/>
            <a:ext cx="7806138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已建立具三維真值之合成訓練資料流程、真實動漫弱監督流程，以及多個動漫領域微調模型。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9448800" y="2786211"/>
            <a:ext cx="7886700" cy="6738789"/>
          </a:xfrm>
          <a:prstGeom prst="rect">
            <a:avLst/>
          </a:prstGeom>
          <a:solidFill>
            <a:srgbClr val="EAE6D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76297" y="5728841"/>
            <a:ext cx="383155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10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原型輸出截圖 動漫影格 → 三維網格 / 骨架對照</a:t>
            </a:r>
            <a:endParaRPr lang="en-US" sz="2100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9C0B0FD5-5104-A3A3-BF2C-CBB60D5AC9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10" t="11203" r="3899"/>
          <a:stretch>
            <a:fillRect/>
          </a:stretch>
        </p:blipFill>
        <p:spPr>
          <a:xfrm>
            <a:off x="9448800" y="3921373"/>
            <a:ext cx="7886699" cy="44769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目標市場與規模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目標市場與規模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786211"/>
            <a:ext cx="3867150" cy="2846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67211"/>
            <a:ext cx="341566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動畫產業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3757761"/>
            <a:ext cx="341566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333"/>
              </a:lnSpc>
              <a:buNone/>
            </a:pPr>
            <a:r>
              <a:rPr lang="en-US" sz="390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</a:t>
            </a:r>
            <a:r>
              <a:rPr lang="en-US" sz="225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億美元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4454872"/>
            <a:ext cx="3198305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三維動畫製作、2D 作品之三維重製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124450" y="2786211"/>
            <a:ext cx="3867150" cy="2846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505450" y="3167211"/>
            <a:ext cx="341566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遊戲產業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05450" y="3757761"/>
            <a:ext cx="341566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333"/>
              </a:lnSpc>
              <a:buNone/>
            </a:pPr>
            <a:r>
              <a:rPr lang="en-US" sz="390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r>
              <a:rPr lang="en-US" sz="225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億美元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5505450" y="4454872"/>
            <a:ext cx="3198305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角色動作資產為主要製作成本之一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296400" y="2786211"/>
            <a:ext cx="3867150" cy="2846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77400" y="3167211"/>
            <a:ext cx="341566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虛擬偶像 / VTuber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77400" y="3757761"/>
            <a:ext cx="341566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333"/>
              </a:lnSpc>
              <a:buNone/>
            </a:pPr>
            <a:r>
              <a:rPr lang="en-US" sz="390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數十億</a:t>
            </a:r>
            <a:r>
              <a:rPr lang="en-US" sz="2250" b="1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美元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677400" y="4454872"/>
            <a:ext cx="3198305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動作驅動與動作素材庫需求持續成長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3468350" y="2786211"/>
            <a:ext cx="3867150" cy="2846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3849350" y="3167211"/>
            <a:ext cx="341566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內容生成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849350" y="3757761"/>
            <a:ext cx="3415665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333"/>
              </a:lnSpc>
              <a:buNone/>
            </a:pPr>
            <a:r>
              <a:rPr lang="en-US" sz="3900" b="1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</a:t>
            </a:r>
            <a:r>
              <a:rPr lang="en-US" sz="2250" b="1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13849350" y="4454872"/>
            <a:ext cx="3198305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2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多模態模型與動作生成模型之訓練資料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52500" y="6166396"/>
            <a:ext cx="16383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6575971"/>
            <a:ext cx="1219200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目標客群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2552700" y="6556921"/>
            <a:ext cx="33528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獨立遊戲與動畫工作室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019800" y="6556921"/>
            <a:ext cx="268224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虛擬偶像經紀公司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877300" y="6556921"/>
            <a:ext cx="24715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模型開發公司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1543258" y="6556921"/>
            <a:ext cx="21988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動漫 IP 持有者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既有與潛在競爭者分析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既有方案比較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3543449"/>
            <a:ext cx="5200948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938611"/>
            <a:ext cx="505217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競爭者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6153448" y="3543449"/>
            <a:ext cx="5200948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7" name="Text 5"/>
          <p:cNvSpPr/>
          <p:nvPr/>
        </p:nvSpPr>
        <p:spPr>
          <a:xfrm>
            <a:off x="6153448" y="2938611"/>
            <a:ext cx="505217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優勢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1354395" y="3543449"/>
            <a:ext cx="5980956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9" name="Text 7"/>
          <p:cNvSpPr/>
          <p:nvPr/>
        </p:nvSpPr>
        <p:spPr>
          <a:xfrm>
            <a:off x="11354395" y="2938611"/>
            <a:ext cx="616038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52500" y="4915049"/>
            <a:ext cx="5200948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819674"/>
            <a:ext cx="505217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Mixamo（Adobe） </a:t>
            </a:r>
          </a:p>
          <a:p>
            <a:pPr marL="0" indent="0">
              <a:lnSpc>
                <a:spcPct val="131818"/>
              </a:lnSpc>
              <a:buNone/>
            </a:pPr>
            <a:r>
              <a:rPr lang="en-US" sz="1950" dirty="0" err="1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免費真人動作素材庫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6153448" y="4915049"/>
            <a:ext cx="5200948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3" name="Text 11"/>
          <p:cNvSpPr/>
          <p:nvPr/>
        </p:nvSpPr>
        <p:spPr>
          <a:xfrm>
            <a:off x="6153448" y="3819674"/>
            <a:ext cx="505217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數量充足、取用容易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1354395" y="4915049"/>
            <a:ext cx="5980956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5" name="Text 13"/>
          <p:cNvSpPr/>
          <p:nvPr/>
        </p:nvSpPr>
        <p:spPr>
          <a:xfrm>
            <a:off x="11354395" y="3819674"/>
            <a:ext cx="61603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全為真人動作捕捉資料，缺乏動漫風格動作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952500" y="6286649"/>
            <a:ext cx="5200948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191274"/>
            <a:ext cx="505217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31818"/>
              </a:lnSpc>
              <a:buNone/>
            </a:pPr>
            <a:r>
              <a:rPr lang="en-US" sz="2175" b="1" dirty="0" err="1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動作捕捉服務商</a:t>
            </a:r>
            <a:r>
              <a:rPr lang="en-US" sz="2175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31818"/>
              </a:lnSpc>
              <a:buNone/>
            </a:pPr>
            <a:r>
              <a:rPr lang="en-US" sz="1950" dirty="0" err="1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真人動作捕捉委製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6153448" y="6286649"/>
            <a:ext cx="5200948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9" name="Text 17"/>
          <p:cNvSpPr/>
          <p:nvPr/>
        </p:nvSpPr>
        <p:spPr>
          <a:xfrm>
            <a:off x="6153448" y="5191274"/>
            <a:ext cx="505217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精度高、可客製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1354395" y="6286649"/>
            <a:ext cx="5980956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21" name="Text 19"/>
          <p:cNvSpPr/>
          <p:nvPr/>
        </p:nvSpPr>
        <p:spPr>
          <a:xfrm>
            <a:off x="11354395" y="5191274"/>
            <a:ext cx="61603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成本高，且無法取得非寫實動作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952500" y="7658249"/>
            <a:ext cx="5200948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6562874"/>
            <a:ext cx="505217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b="1" dirty="0" err="1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單目三維姿態研究</a:t>
            </a:r>
            <a:r>
              <a:rPr lang="en-US" sz="2175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31818"/>
              </a:lnSpc>
              <a:buNone/>
            </a:pPr>
            <a:r>
              <a:rPr lang="en-US" sz="1950" dirty="0" err="1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真人影片</a:t>
            </a:r>
            <a:r>
              <a:rPr lang="en-US" sz="19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三維姿態</a:t>
            </a:r>
            <a:endParaRPr lang="en-US" sz="2175" dirty="0"/>
          </a:p>
        </p:txBody>
      </p:sp>
      <p:sp>
        <p:nvSpPr>
          <p:cNvPr id="24" name="Shape 22"/>
          <p:cNvSpPr/>
          <p:nvPr/>
        </p:nvSpPr>
        <p:spPr>
          <a:xfrm>
            <a:off x="6153448" y="7658249"/>
            <a:ext cx="5200948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25" name="Text 23"/>
          <p:cNvSpPr/>
          <p:nvPr/>
        </p:nvSpPr>
        <p:spPr>
          <a:xfrm>
            <a:off x="6153448" y="6562874"/>
            <a:ext cx="505217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方法成熟、公開可用</a:t>
            </a:r>
            <a:endParaRPr lang="en-US" sz="2175" dirty="0"/>
          </a:p>
        </p:txBody>
      </p:sp>
      <p:sp>
        <p:nvSpPr>
          <p:cNvPr id="26" name="Shape 24"/>
          <p:cNvSpPr/>
          <p:nvPr/>
        </p:nvSpPr>
        <p:spPr>
          <a:xfrm>
            <a:off x="11354395" y="7658249"/>
            <a:ext cx="5980956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27" name="Text 25"/>
          <p:cNvSpPr/>
          <p:nvPr/>
        </p:nvSpPr>
        <p:spPr>
          <a:xfrm>
            <a:off x="11354395" y="6562874"/>
            <a:ext cx="61603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假設鏡頭連續且對象為真人，未處理鏡頭切換與多角色遮擋</a:t>
            </a:r>
            <a:endParaRPr lang="en-US" sz="2175" dirty="0"/>
          </a:p>
        </p:txBody>
      </p:sp>
      <p:sp>
        <p:nvSpPr>
          <p:cNvPr id="28" name="Shape 26"/>
          <p:cNvSpPr/>
          <p:nvPr/>
        </p:nvSpPr>
        <p:spPr>
          <a:xfrm>
            <a:off x="952500" y="9029849"/>
            <a:ext cx="5200948" cy="19050"/>
          </a:xfrm>
          <a:prstGeom prst="rect">
            <a:avLst/>
          </a:prstGeom>
          <a:solidFill>
            <a:srgbClr val="1B1E26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" y="7934474"/>
            <a:ext cx="505217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b="1" dirty="0" err="1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人工逐格製作外包</a:t>
            </a:r>
            <a:r>
              <a:rPr lang="en-US" sz="2175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lnSpc>
                <a:spcPct val="131818"/>
              </a:lnSpc>
              <a:buNone/>
            </a:pPr>
            <a:r>
              <a:rPr lang="en-US" sz="1950" dirty="0" err="1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動畫師手動製作</a:t>
            </a:r>
            <a:endParaRPr lang="en-US" sz="2175" dirty="0"/>
          </a:p>
        </p:txBody>
      </p:sp>
      <p:sp>
        <p:nvSpPr>
          <p:cNvPr id="30" name="Shape 28"/>
          <p:cNvSpPr/>
          <p:nvPr/>
        </p:nvSpPr>
        <p:spPr>
          <a:xfrm>
            <a:off x="6153448" y="9029849"/>
            <a:ext cx="5200948" cy="19050"/>
          </a:xfrm>
          <a:prstGeom prst="rect">
            <a:avLst/>
          </a:prstGeom>
          <a:solidFill>
            <a:srgbClr val="1B1E26"/>
          </a:solidFill>
          <a:ln/>
        </p:spPr>
      </p:sp>
      <p:sp>
        <p:nvSpPr>
          <p:cNvPr id="31" name="Text 29"/>
          <p:cNvSpPr/>
          <p:nvPr/>
        </p:nvSpPr>
        <p:spPr>
          <a:xfrm>
            <a:off x="6153448" y="7934474"/>
            <a:ext cx="505217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品質可控</a:t>
            </a:r>
            <a:endParaRPr lang="en-US" sz="2175" dirty="0"/>
          </a:p>
        </p:txBody>
      </p:sp>
      <p:sp>
        <p:nvSpPr>
          <p:cNvPr id="32" name="Shape 30"/>
          <p:cNvSpPr/>
          <p:nvPr/>
        </p:nvSpPr>
        <p:spPr>
          <a:xfrm>
            <a:off x="11354395" y="9029849"/>
            <a:ext cx="5980956" cy="19050"/>
          </a:xfrm>
          <a:prstGeom prst="rect">
            <a:avLst/>
          </a:prstGeom>
          <a:solidFill>
            <a:srgbClr val="1B1E26"/>
          </a:solidFill>
          <a:ln/>
        </p:spPr>
      </p:sp>
      <p:sp>
        <p:nvSpPr>
          <p:cNvPr id="33" name="Text 31"/>
          <p:cNvSpPr/>
          <p:nvPr/>
        </p:nvSpPr>
        <p:spPr>
          <a:xfrm>
            <a:off x="11354395" y="7934474"/>
            <a:ext cx="616038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818"/>
              </a:lnSpc>
              <a:buNone/>
            </a:pPr>
            <a:r>
              <a:rPr lang="en-US" sz="217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耗時且成本高，難以規模擴張</a:t>
            </a:r>
            <a:endParaRPr lang="en-US" sz="21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競爭優勢與市場定位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差異化與市場定位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824311"/>
            <a:ext cx="5206901" cy="2849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43411"/>
            <a:ext cx="480557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供給稀缺性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71600" y="3929211"/>
            <a:ext cx="4499762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現有動作素材庫皆為真人動作捕捉資料，動漫風格動作目前無對應供給來源。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6540401" y="2824311"/>
            <a:ext cx="5207050" cy="2849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959501" y="3243411"/>
            <a:ext cx="48057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問題設定之難度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59501" y="3929211"/>
            <a:ext cx="4499915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多角色遮擋、鏡頭切換與缺乏三維真值之組合設定，於現有學術與商業方案中尚未被處理。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2128450" y="2824311"/>
            <a:ext cx="5207050" cy="2849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47550" y="3243411"/>
            <a:ext cx="48057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資料規模效應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547550" y="3929211"/>
            <a:ext cx="4499915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處理量累積可擴充動作資料庫，並回饋為模型訓練資料，形成持續累積的正向循環。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52500" y="6207323"/>
            <a:ext cx="16383000" cy="1918097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700" y="6975872"/>
            <a:ext cx="1337846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市場定位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159323" y="6664523"/>
            <a:ext cx="14130546" cy="1041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en-US" sz="2550" dirty="0" err="1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初期聚焦動漫風格三維動作之市場，以三年為期成為華語地區動漫動作資料之主要供應者；該細分市場目前競爭者有限，具先進入優勢</a:t>
            </a:r>
            <a:r>
              <a:rPr lang="en-US" sz="2550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55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A74B0A56-E035-2BCC-D52F-17AEC4716AD5}"/>
              </a:ext>
            </a:extLst>
          </p:cNvPr>
          <p:cNvSpPr/>
          <p:nvPr/>
        </p:nvSpPr>
        <p:spPr>
          <a:xfrm>
            <a:off x="951096" y="8174086"/>
            <a:ext cx="16383000" cy="1918097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9A0FE48A-8FB9-39D1-8DD5-0BAE850AC2FC}"/>
              </a:ext>
            </a:extLst>
          </p:cNvPr>
          <p:cNvSpPr/>
          <p:nvPr/>
        </p:nvSpPr>
        <p:spPr>
          <a:xfrm>
            <a:off x="1409700" y="8920079"/>
            <a:ext cx="1337846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TW" altLang="en-US" sz="2100" kern="0" spc="294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競爭優勢</a:t>
            </a:r>
            <a:endParaRPr lang="en-US" sz="21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3E0C25A4-561E-0169-1514-B19F59AD60C2}"/>
              </a:ext>
            </a:extLst>
          </p:cNvPr>
          <p:cNvSpPr/>
          <p:nvPr/>
        </p:nvSpPr>
        <p:spPr>
          <a:xfrm>
            <a:off x="3159323" y="8813601"/>
            <a:ext cx="14130546" cy="520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128"/>
              </a:lnSpc>
              <a:buNone/>
            </a:pPr>
            <a:r>
              <a:rPr lang="zh-TW" altLang="en-US" sz="2550" dirty="0">
                <a:solidFill>
                  <a:schemeClr val="bg1"/>
                </a:solidFill>
              </a:rPr>
              <a:t>實驗室具備高算力設備及輔助設備，在訓練上可以嘗試更多種可能性</a:t>
            </a:r>
            <a:endParaRPr lang="en-US" sz="25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· 3.2 銷售通路與初期客戶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銷售通路與初期客戶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519511"/>
            <a:ext cx="1571625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服務以雲端推論形式提供，無實體製造，透過三條通路觸及客戶。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52500" y="3449092"/>
            <a:ext cx="5206901" cy="2764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830092"/>
            <a:ext cx="48893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33500" y="4344442"/>
            <a:ext cx="4889391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94"/>
              </a:lnSpc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自建雲端平台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333500" y="4978747"/>
            <a:ext cx="45782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以網頁介面與 API 直接服務開發者與工作室。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40401" y="3449092"/>
            <a:ext cx="5207050" cy="2764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921401" y="3830092"/>
            <a:ext cx="48895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21401" y="4344442"/>
            <a:ext cx="4889555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94"/>
              </a:lnSpc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既有工具生態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921401" y="4978747"/>
            <a:ext cx="457840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於 Unity Asset Store 與 Blender 外掛市集上架。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128450" y="3449092"/>
            <a:ext cx="5207050" cy="2764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509450" y="3830092"/>
            <a:ext cx="48895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509450" y="4344442"/>
            <a:ext cx="4889555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294"/>
              </a:lnSpc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產業與育成網絡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509450" y="4978747"/>
            <a:ext cx="457840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透過校內育成資源、新創社群與產業展會接觸客戶。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52500" y="6708428"/>
            <a:ext cx="16383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7098953"/>
            <a:ext cx="293370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b="1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初期客戶</a:t>
            </a:r>
            <a:endParaRPr lang="en-US" sz="2325" b="1" dirty="0"/>
          </a:p>
        </p:txBody>
      </p:sp>
      <p:sp>
        <p:nvSpPr>
          <p:cNvPr id="19" name="Text 17"/>
          <p:cNvSpPr/>
          <p:nvPr/>
        </p:nvSpPr>
        <p:spPr>
          <a:xfrm>
            <a:off x="4076700" y="7098953"/>
            <a:ext cx="1458468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獨立遊戲與動畫工作室：動作捕捉預算有限，以免費額度試用後轉為付費。</a:t>
            </a:r>
            <a:endParaRPr lang="en-US" sz="2325" dirty="0"/>
          </a:p>
        </p:txBody>
      </p:sp>
      <p:sp>
        <p:nvSpPr>
          <p:cNvPr id="20" name="Text 18"/>
          <p:cNvSpPr/>
          <p:nvPr/>
        </p:nvSpPr>
        <p:spPr>
          <a:xfrm>
            <a:off x="4076700" y="7747099"/>
            <a:ext cx="13656564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472"/>
              </a:lnSpc>
              <a:buNone/>
            </a:pPr>
            <a:r>
              <a:rPr lang="en-US" sz="232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模型開發公司：缺乏動漫風格訓練資料，以小型示範資料集建立合作關係。初期名單來自指導老師之學術網絡與校內育成資源。</a:t>
            </a:r>
            <a:endParaRPr lang="en-US" sz="23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· 3.4 成本、定價與獲利方式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營收結構與定價方式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3610124"/>
            <a:ext cx="4336554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976711"/>
            <a:ext cx="4161851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營收來源</a:t>
            </a:r>
            <a:endParaRPr lang="en-US" sz="2325" dirty="0"/>
          </a:p>
        </p:txBody>
      </p:sp>
      <p:sp>
        <p:nvSpPr>
          <p:cNvPr id="6" name="Shape 4"/>
          <p:cNvSpPr/>
          <p:nvPr/>
        </p:nvSpPr>
        <p:spPr>
          <a:xfrm>
            <a:off x="5289054" y="3610124"/>
            <a:ext cx="7227838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7" name="Text 5"/>
          <p:cNvSpPr/>
          <p:nvPr/>
        </p:nvSpPr>
        <p:spPr>
          <a:xfrm>
            <a:off x="5289054" y="2976711"/>
            <a:ext cx="7139873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定價方式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2516892" y="3610124"/>
            <a:ext cx="4818459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9" name="Text 7"/>
          <p:cNvSpPr/>
          <p:nvPr/>
        </p:nvSpPr>
        <p:spPr>
          <a:xfrm>
            <a:off x="12516892" y="2976711"/>
            <a:ext cx="4963013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客群</a:t>
            </a:r>
            <a:endParaRPr lang="en-US" sz="2325" dirty="0"/>
          </a:p>
        </p:txBody>
      </p:sp>
      <p:sp>
        <p:nvSpPr>
          <p:cNvPr id="10" name="Shape 8"/>
          <p:cNvSpPr/>
          <p:nvPr/>
        </p:nvSpPr>
        <p:spPr>
          <a:xfrm>
            <a:off x="952500" y="4634061"/>
            <a:ext cx="4336554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905399"/>
            <a:ext cx="4161851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與 SaaS 服務</a:t>
            </a:r>
            <a:endParaRPr lang="en-US" sz="2325" dirty="0"/>
          </a:p>
        </p:txBody>
      </p:sp>
      <p:sp>
        <p:nvSpPr>
          <p:cNvPr id="12" name="Shape 10"/>
          <p:cNvSpPr/>
          <p:nvPr/>
        </p:nvSpPr>
        <p:spPr>
          <a:xfrm>
            <a:off x="5289054" y="4634061"/>
            <a:ext cx="7227838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3" name="Text 11"/>
          <p:cNvSpPr/>
          <p:nvPr/>
        </p:nvSpPr>
        <p:spPr>
          <a:xfrm>
            <a:off x="5289054" y="3905399"/>
            <a:ext cx="7139873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免費額度、依用量計費（每分鐘影片）與分級訂閱</a:t>
            </a:r>
            <a:endParaRPr lang="en-US" sz="2325" dirty="0"/>
          </a:p>
        </p:txBody>
      </p:sp>
      <p:sp>
        <p:nvSpPr>
          <p:cNvPr id="14" name="Shape 12"/>
          <p:cNvSpPr/>
          <p:nvPr/>
        </p:nvSpPr>
        <p:spPr>
          <a:xfrm>
            <a:off x="12516892" y="4634061"/>
            <a:ext cx="4818459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5" name="Text 13"/>
          <p:cNvSpPr/>
          <p:nvPr/>
        </p:nvSpPr>
        <p:spPr>
          <a:xfrm>
            <a:off x="12516892" y="3905399"/>
            <a:ext cx="4963013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工作室、開發者</a:t>
            </a:r>
            <a:endParaRPr lang="en-US" sz="2325" dirty="0"/>
          </a:p>
        </p:txBody>
      </p:sp>
      <p:sp>
        <p:nvSpPr>
          <p:cNvPr id="16" name="Shape 14"/>
          <p:cNvSpPr/>
          <p:nvPr/>
        </p:nvSpPr>
        <p:spPr>
          <a:xfrm>
            <a:off x="952500" y="5657999"/>
            <a:ext cx="4336554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929336"/>
            <a:ext cx="4161851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動作資料庫授權</a:t>
            </a:r>
            <a:endParaRPr lang="en-US" sz="2325" dirty="0"/>
          </a:p>
        </p:txBody>
      </p:sp>
      <p:sp>
        <p:nvSpPr>
          <p:cNvPr id="18" name="Shape 16"/>
          <p:cNvSpPr/>
          <p:nvPr/>
        </p:nvSpPr>
        <p:spPr>
          <a:xfrm>
            <a:off x="5289054" y="5657999"/>
            <a:ext cx="7227838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9" name="Text 17"/>
          <p:cNvSpPr/>
          <p:nvPr/>
        </p:nvSpPr>
        <p:spPr>
          <a:xfrm>
            <a:off x="5289054" y="4929336"/>
            <a:ext cx="7139873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依資料集規模與專屬程度採買斷或訂閱</a:t>
            </a:r>
            <a:endParaRPr lang="en-US" sz="2325" dirty="0"/>
          </a:p>
        </p:txBody>
      </p:sp>
      <p:sp>
        <p:nvSpPr>
          <p:cNvPr id="20" name="Shape 18"/>
          <p:cNvSpPr/>
          <p:nvPr/>
        </p:nvSpPr>
        <p:spPr>
          <a:xfrm>
            <a:off x="12516892" y="5657999"/>
            <a:ext cx="4818459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21" name="Text 19"/>
          <p:cNvSpPr/>
          <p:nvPr/>
        </p:nvSpPr>
        <p:spPr>
          <a:xfrm>
            <a:off x="12516892" y="4929336"/>
            <a:ext cx="4963013" cy="48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遊戲公司、AI 公司</a:t>
            </a:r>
            <a:endParaRPr lang="en-US" sz="2325" dirty="0"/>
          </a:p>
        </p:txBody>
      </p:sp>
      <p:sp>
        <p:nvSpPr>
          <p:cNvPr id="22" name="Shape 20"/>
          <p:cNvSpPr/>
          <p:nvPr/>
        </p:nvSpPr>
        <p:spPr>
          <a:xfrm>
            <a:off x="952500" y="6681936"/>
            <a:ext cx="4336554" cy="19050"/>
          </a:xfrm>
          <a:prstGeom prst="rect">
            <a:avLst/>
          </a:prstGeom>
          <a:solidFill>
            <a:srgbClr val="1B1E26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953274"/>
            <a:ext cx="416185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客製化提取服務</a:t>
            </a:r>
            <a:endParaRPr lang="en-US" sz="2325" dirty="0"/>
          </a:p>
        </p:txBody>
      </p:sp>
      <p:sp>
        <p:nvSpPr>
          <p:cNvPr id="24" name="Shape 22"/>
          <p:cNvSpPr/>
          <p:nvPr/>
        </p:nvSpPr>
        <p:spPr>
          <a:xfrm>
            <a:off x="5289054" y="6681936"/>
            <a:ext cx="7227838" cy="19050"/>
          </a:xfrm>
          <a:prstGeom prst="rect">
            <a:avLst/>
          </a:prstGeom>
          <a:solidFill>
            <a:srgbClr val="1B1E26"/>
          </a:solidFill>
          <a:ln/>
        </p:spPr>
      </p:sp>
      <p:sp>
        <p:nvSpPr>
          <p:cNvPr id="25" name="Text 23"/>
          <p:cNvSpPr/>
          <p:nvPr/>
        </p:nvSpPr>
        <p:spPr>
          <a:xfrm>
            <a:off x="5289054" y="5953274"/>
            <a:ext cx="713987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依專案報價</a:t>
            </a:r>
            <a:endParaRPr lang="en-US" sz="2325" dirty="0"/>
          </a:p>
        </p:txBody>
      </p:sp>
      <p:sp>
        <p:nvSpPr>
          <p:cNvPr id="26" name="Shape 24"/>
          <p:cNvSpPr/>
          <p:nvPr/>
        </p:nvSpPr>
        <p:spPr>
          <a:xfrm>
            <a:off x="12516892" y="6681936"/>
            <a:ext cx="4818459" cy="19050"/>
          </a:xfrm>
          <a:prstGeom prst="rect">
            <a:avLst/>
          </a:prstGeom>
          <a:solidFill>
            <a:srgbClr val="1B1E26"/>
          </a:solidFill>
          <a:ln/>
        </p:spPr>
      </p:sp>
      <p:sp>
        <p:nvSpPr>
          <p:cNvPr id="27" name="Text 25"/>
          <p:cNvSpPr/>
          <p:nvPr/>
        </p:nvSpPr>
        <p:spPr>
          <a:xfrm>
            <a:off x="12516892" y="5953274"/>
            <a:ext cx="496301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167"/>
              </a:lnSpc>
              <a:buNone/>
            </a:pPr>
            <a:r>
              <a:rPr lang="en-US" sz="232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持有者、大型製作</a:t>
            </a:r>
            <a:endParaRPr lang="en-US" sz="2325" dirty="0"/>
          </a:p>
        </p:txBody>
      </p:sp>
      <p:sp>
        <p:nvSpPr>
          <p:cNvPr id="28" name="Text 26"/>
          <p:cNvSpPr/>
          <p:nvPr/>
        </p:nvSpPr>
        <p:spPr>
          <a:xfrm>
            <a:off x="952500" y="7224861"/>
            <a:ext cx="1219200" cy="4572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主要成本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2552700" y="7107186"/>
            <a:ext cx="13884488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運算（模型訓練與推論），單位成本隨處理量增加而下降；其次為資料授權與研發人力。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短、中、長期營運規劃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階段性發展規劃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900511"/>
            <a:ext cx="5206901" cy="57150"/>
          </a:xfrm>
          <a:prstGeom prst="rect">
            <a:avLst/>
          </a:prstGeom>
          <a:solidFill>
            <a:srgbClr val="3A7BC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300561"/>
            <a:ext cx="572759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13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 0–6 月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3948261"/>
            <a:ext cx="5727591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50" b="1" kern="0" spc="-29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核心技術與初版產品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2500" y="4665464"/>
            <a:ext cx="5363108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完成跨分鏡時序融合、建立真實動漫評測基準，並推出動作資料庫初版。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540401" y="2900511"/>
            <a:ext cx="5207050" cy="57150"/>
          </a:xfrm>
          <a:prstGeom prst="rect">
            <a:avLst/>
          </a:prstGeom>
          <a:solidFill>
            <a:srgbClr val="3A7BCB"/>
          </a:solidFill>
          <a:ln/>
        </p:spPr>
      </p:sp>
      <p:sp>
        <p:nvSpPr>
          <p:cNvPr id="9" name="Text 7"/>
          <p:cNvSpPr/>
          <p:nvPr/>
        </p:nvSpPr>
        <p:spPr>
          <a:xfrm>
            <a:off x="6540401" y="3300561"/>
            <a:ext cx="57277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13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 6–12 月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540401" y="3948261"/>
            <a:ext cx="5727755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50" b="1" kern="0" spc="-29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服務上線與首批客戶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540401" y="4665464"/>
            <a:ext cx="5363261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服務上線，取得首批付費客戶與資料庫授權，並持續擴充動作資料。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2128450" y="2900511"/>
            <a:ext cx="5207050" cy="57150"/>
          </a:xfrm>
          <a:prstGeom prst="rect">
            <a:avLst/>
          </a:prstGeom>
          <a:solidFill>
            <a:srgbClr val="C56C21"/>
          </a:solidFill>
          <a:ln/>
        </p:spPr>
      </p:sp>
      <p:sp>
        <p:nvSpPr>
          <p:cNvPr id="13" name="Text 11"/>
          <p:cNvSpPr/>
          <p:nvPr/>
        </p:nvSpPr>
        <p:spPr>
          <a:xfrm>
            <a:off x="12128450" y="3300561"/>
            <a:ext cx="572775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kern="0" spc="13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長期 1–3 年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128450" y="3948261"/>
            <a:ext cx="5727755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50" b="1" kern="0" spc="-29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資料規模與市場擴張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128450" y="4665464"/>
            <a:ext cx="5363261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擴大動作資料庫規模，並延伸至 AI 訓練資料市場。</a:t>
            </a:r>
            <a:endParaRPr lang="en-US" sz="21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· 4.2 · 4.3 資金結構與運用（示意框架）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資金結構與運用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824311"/>
            <a:ext cx="8591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資金來源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3662511"/>
            <a:ext cx="804481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32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團隊自籌資金為主，並申請本競賽獎金、校內創新創業補助與政府新創補助（如 U-start）。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952500" y="4950172"/>
            <a:ext cx="804481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32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起步階段以校內運算資源與開源模型執行，降低所需啟動資金。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952500" y="6237833"/>
            <a:ext cx="78105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6590258"/>
            <a:ext cx="804481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232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收入以自行銷售之 API 與 SaaS 服務為主，資料庫授權與經銷為輔，技術授權列為長期選項。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9525000" y="2824311"/>
            <a:ext cx="8591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資金運用比例（示意，％）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448800" y="3657749"/>
            <a:ext cx="571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287000" y="3624411"/>
            <a:ext cx="3200400" cy="419100"/>
          </a:xfrm>
          <a:prstGeom prst="rect">
            <a:avLst/>
          </a:prstGeom>
          <a:solidFill>
            <a:srgbClr val="3A7BCB"/>
          </a:solidFill>
          <a:ln/>
        </p:spPr>
      </p:sp>
      <p:sp>
        <p:nvSpPr>
          <p:cNvPr id="12" name="Text 10"/>
          <p:cNvSpPr/>
          <p:nvPr/>
        </p:nvSpPr>
        <p:spPr>
          <a:xfrm>
            <a:off x="13754100" y="3624411"/>
            <a:ext cx="28289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運算資源與雲端服務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448800" y="4305449"/>
            <a:ext cx="571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287000" y="4272111"/>
            <a:ext cx="2800350" cy="419100"/>
          </a:xfrm>
          <a:prstGeom prst="rect">
            <a:avLst/>
          </a:prstGeom>
          <a:solidFill>
            <a:srgbClr val="6795CF"/>
          </a:solidFill>
          <a:ln/>
        </p:spPr>
      </p:sp>
      <p:sp>
        <p:nvSpPr>
          <p:cNvPr id="15" name="Text 13"/>
          <p:cNvSpPr/>
          <p:nvPr/>
        </p:nvSpPr>
        <p:spPr>
          <a:xfrm>
            <a:off x="13354050" y="4272111"/>
            <a:ext cx="1219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研發人力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448800" y="4953149"/>
            <a:ext cx="571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287000" y="4919811"/>
            <a:ext cx="1200150" cy="419100"/>
          </a:xfrm>
          <a:prstGeom prst="rect">
            <a:avLst/>
          </a:prstGeom>
          <a:solidFill>
            <a:srgbClr val="C56C21"/>
          </a:solidFill>
          <a:ln/>
        </p:spPr>
      </p:sp>
      <p:sp>
        <p:nvSpPr>
          <p:cNvPr id="18" name="Text 16"/>
          <p:cNvSpPr/>
          <p:nvPr/>
        </p:nvSpPr>
        <p:spPr>
          <a:xfrm>
            <a:off x="11753850" y="4919811"/>
            <a:ext cx="22002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資料取得與授權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448800" y="5600849"/>
            <a:ext cx="571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287000" y="5567511"/>
            <a:ext cx="800100" cy="419100"/>
          </a:xfrm>
          <a:prstGeom prst="rect">
            <a:avLst/>
          </a:prstGeom>
          <a:solidFill>
            <a:srgbClr val="D59466"/>
          </a:solidFill>
          <a:ln/>
        </p:spPr>
      </p:sp>
      <p:sp>
        <p:nvSpPr>
          <p:cNvPr id="21" name="Text 19"/>
          <p:cNvSpPr/>
          <p:nvPr/>
        </p:nvSpPr>
        <p:spPr>
          <a:xfrm>
            <a:off x="11353800" y="5567511"/>
            <a:ext cx="22002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行銷與市場拓展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財務預測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獲利結構與財務預測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824311"/>
            <a:ext cx="5206901" cy="6700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43411"/>
            <a:ext cx="480557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獲利結構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71600" y="3948261"/>
            <a:ext cx="4499762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以軟體服務為主，毛利率較高；推論之單位成本隨處理量增加而下降。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6540401" y="2824311"/>
            <a:ext cx="5207050" cy="6700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959501" y="3243411"/>
            <a:ext cx="48057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損益平衡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59501" y="3948261"/>
            <a:ext cx="4499915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依訂閱客戶數與資料庫授權規模推估，將於營運展開後建立財務模型。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2128450" y="2824311"/>
            <a:ext cx="5207050" cy="6700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47550" y="3243411"/>
            <a:ext cx="480573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成長來源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547550" y="3948261"/>
            <a:ext cx="4499915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606"/>
              </a:lnSpc>
              <a:buNone/>
            </a:pPr>
            <a:r>
              <a:rPr lang="en-US" sz="2175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處理量累積擴充資料庫規模，帶動授權收入與服務用量同步成長。</a:t>
            </a:r>
            <a:endParaRPr lang="en-US" sz="21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 團隊組成、學術支持與智慧財產現況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1562100"/>
            <a:ext cx="18021300" cy="805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581"/>
              </a:lnSpc>
              <a:buNone/>
            </a:pPr>
            <a:r>
              <a:rPr lang="en-US" sz="4950" b="1" kern="0" spc="-74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團隊組成與分工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786211"/>
            <a:ext cx="7981950" cy="383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5311"/>
            <a:ext cx="78581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領隊 / 技術負責人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71600" y="3738711"/>
            <a:ext cx="78581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邱靖原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371600" y="4519761"/>
            <a:ext cx="7858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臺灣科技大學 人工智慧跨域科技研究所 · 碩一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1371600" y="5062686"/>
            <a:ext cx="7143750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5262711"/>
            <a:ext cx="735806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176"/>
              </a:lnSpc>
              <a:buNone/>
            </a:pPr>
            <a:r>
              <a:rPr lang="en-US" sz="225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核心方法研發、三維姿態估計、系統整合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71600" y="5872311"/>
            <a:ext cx="78581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0970227925 · jinguanchiou@gmail.com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353550" y="2786211"/>
            <a:ext cx="7981950" cy="383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772650" y="3205311"/>
            <a:ext cx="78581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10" dirty="0">
                <a:solidFill>
                  <a:srgbClr val="3A7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團隊成員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72650" y="3738711"/>
            <a:ext cx="785812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蔡枘勳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9772650" y="4519761"/>
            <a:ext cx="785812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臺灣科技大學 人工智慧跨域科技研究所 · 碩一</a:t>
            </a:r>
            <a:endParaRPr lang="en-US" sz="2175" dirty="0"/>
          </a:p>
        </p:txBody>
      </p:sp>
      <p:sp>
        <p:nvSpPr>
          <p:cNvPr id="15" name="Shape 13"/>
          <p:cNvSpPr/>
          <p:nvPr/>
        </p:nvSpPr>
        <p:spPr>
          <a:xfrm>
            <a:off x="9772650" y="5062686"/>
            <a:ext cx="7143750" cy="9525"/>
          </a:xfrm>
          <a:prstGeom prst="rect">
            <a:avLst/>
          </a:prstGeom>
          <a:solidFill>
            <a:srgbClr val="E6E2DA"/>
          </a:solidFill>
          <a:ln/>
        </p:spPr>
      </p:sp>
      <p:sp>
        <p:nvSpPr>
          <p:cNvPr id="16" name="Text 14"/>
          <p:cNvSpPr/>
          <p:nvPr/>
        </p:nvSpPr>
        <p:spPr>
          <a:xfrm>
            <a:off x="9772650" y="5262711"/>
            <a:ext cx="735806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176"/>
              </a:lnSpc>
              <a:buNone/>
            </a:pPr>
            <a:r>
              <a:rPr lang="en-US" sz="2250" dirty="0">
                <a:solidFill>
                  <a:srgbClr val="4D53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模型訓練、系統開發、產品化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772650" y="5872311"/>
            <a:ext cx="78581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0937659940 · raytsai20021003@gmail.com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52500" y="7043886"/>
            <a:ext cx="16383000" cy="9525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7396311"/>
            <a:ext cx="29337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2250" dirty="0">
                <a:solidFill>
                  <a:srgbClr val="6A6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指導老師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4076700" y="7396311"/>
            <a:ext cx="145846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林士勛</a:t>
            </a:r>
            <a:r>
              <a:rPr lang="en-US" sz="2250" dirty="0">
                <a:solidFill>
                  <a:srgbClr val="1B1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副教授 · 臺灣科技大學 人工智慧跨域科技研究所 · 提供學術指導與研究基礎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C56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結語與附件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3669655"/>
            <a:ext cx="14912340" cy="1672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258"/>
              </a:lnSpc>
              <a:buNone/>
            </a:pPr>
            <a:r>
              <a:rPr lang="en-US" sz="4950" b="1" kern="0" spc="-99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以既有 2D 藝術創作為來源，建立可再利用的 3D 人體動作資料。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5723186"/>
            <a:ext cx="2095500" cy="57150"/>
          </a:xfrm>
          <a:prstGeom prst="rect">
            <a:avLst/>
          </a:prstGeom>
          <a:solidFill>
            <a:srgbClr val="3A7BCB"/>
          </a:solidFill>
          <a:ln/>
        </p:spPr>
      </p:sp>
      <p:sp>
        <p:nvSpPr>
          <p:cNvPr id="7" name="Text 5"/>
          <p:cNvSpPr/>
          <p:nvPr/>
        </p:nvSpPr>
        <p:spPr>
          <a:xfrm>
            <a:off x="12230100" y="8116342"/>
            <a:ext cx="5258562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9394"/>
              </a:lnSpc>
              <a:buNone/>
            </a:pPr>
            <a:r>
              <a:rPr lang="en-US" sz="2175" dirty="0">
                <a:solidFill>
                  <a:srgbClr val="C8C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聯絡方式 </a:t>
            </a:r>
            <a:r>
              <a:rPr lang="en-US" sz="2175" dirty="0">
                <a:solidFill>
                  <a:srgbClr val="F7F5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邱靖原 · jinguanchiou@gmail.com</a:t>
            </a:r>
            <a:endParaRPr lang="en-US" sz="21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886</Words>
  <Application>Microsoft Office PowerPoint</Application>
  <PresentationFormat>自訂</PresentationFormat>
  <Paragraphs>295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3" baseType="lpstr">
      <vt:lpstr>Arial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jinguan chiou</cp:lastModifiedBy>
  <cp:revision>1</cp:revision>
  <dcterms:created xsi:type="dcterms:W3CDTF">2026-08-06T16:35:16Z</dcterms:created>
  <dcterms:modified xsi:type="dcterms:W3CDTF">2026-08-06T17:20:27Z</dcterms:modified>
</cp:coreProperties>
</file>